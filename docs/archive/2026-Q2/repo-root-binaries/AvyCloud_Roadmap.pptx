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0" y="9144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96%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21792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fertig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AvyCloud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4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Hub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Produkt-Roadmap  |  Stand: 10. März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72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7091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KI-gestützte Produkterkennung  ·  Multi-Marktplatz  ·  Order Management  ·  Versand &amp; Retouren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ist AvyCloud?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E-Commerce-Plattform mit KI-gestützter Produkterkennung, Multi-Marktplatz-Anbindung, Versand und Retouren — alles aus einer Hand.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94560"/>
            <a:ext cx="640080" cy="64008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31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KI-Engine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00200" y="24688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Produkterkennung, Datenverbesserung, Bildgenerierung, Chat-Assistent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92024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2194560"/>
            <a:ext cx="640080" cy="640080"/>
          </a:xfrm>
          <a:prstGeom prst="ellipse">
            <a:avLst/>
          </a:prstGeom>
          <a:solidFill>
            <a:srgbClr val="10AC8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3317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0644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Marktplätze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806440" y="24688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eBay, Kaufland, BaseLinker — Listings, Preis-Sync, Bestandsabgleich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42900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703320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404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Management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00200" y="3977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Bestellungen, Status-Pipeline, Rechnungen, Lieferscheine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42900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83480" y="3703320"/>
            <a:ext cx="640080" cy="640080"/>
          </a:xfrm>
          <a:prstGeom prst="ellipse">
            <a:avLst/>
          </a:prstGeom>
          <a:solidFill>
            <a:srgbClr val="EE5A5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8404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80644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Versand &amp; Retouren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806440" y="3977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SendCloud-Labels, Multi-Carrier, Tracking, Retouren-Workflow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Fertigstellungsgrad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468880" cy="1463040"/>
          </a:xfrm>
          <a:prstGeom prst="rect">
            <a:avLst/>
          </a:prstGeom>
          <a:solidFill>
            <a:srgbClr val="1E2D3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2468880" cy="54864"/>
          </a:xfrm>
          <a:prstGeom prst="rect">
            <a:avLst/>
          </a:prstGeom>
          <a:solidFill>
            <a:srgbClr val="10AC8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80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AC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9728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fertig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83280" y="1097280"/>
            <a:ext cx="2468880" cy="1463040"/>
          </a:xfrm>
          <a:prstGeom prst="rect">
            <a:avLst/>
          </a:prstGeom>
          <a:solidFill>
            <a:srgbClr val="1E2D3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83280" y="1097280"/>
            <a:ext cx="2468880" cy="54864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173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1920" y="1280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8"/>
          <p:cNvSpPr/>
          <p:nvPr/>
        </p:nvSpPr>
        <p:spPr>
          <a:xfrm>
            <a:off x="393192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Arbeit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0" y="1097280"/>
            <a:ext cx="2468880" cy="1463040"/>
          </a:xfrm>
          <a:prstGeom prst="rect">
            <a:avLst/>
          </a:prstGeom>
          <a:solidFill>
            <a:srgbClr val="1E2D3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097280"/>
            <a:ext cx="2468880" cy="54864"/>
          </a:xfrm>
          <a:prstGeom prst="rect">
            <a:avLst/>
          </a:prstGeom>
          <a:solidFill>
            <a:srgbClr val="8395A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66560" y="1280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395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17" name="Text 12"/>
          <p:cNvSpPr/>
          <p:nvPr/>
        </p:nvSpPr>
        <p:spPr>
          <a:xfrm>
            <a:off x="676656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Geplant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solidFill>
            <a:srgbClr val="1E2D3F"/>
          </a:solidFill>
          <a:ln/>
        </p:spPr>
      </p:sp>
      <p:sp>
        <p:nvSpPr>
          <p:cNvPr id="19" name="Shape 14"/>
          <p:cNvSpPr/>
          <p:nvPr/>
        </p:nvSpPr>
        <p:spPr>
          <a:xfrm>
            <a:off x="548640" y="2926080"/>
            <a:ext cx="7563917" cy="365760"/>
          </a:xfrm>
          <a:prstGeom prst="rect">
            <a:avLst/>
          </a:prstGeom>
          <a:solidFill>
            <a:srgbClr val="10AC84"/>
          </a:solidFill>
          <a:ln/>
        </p:spPr>
      </p:sp>
      <p:sp>
        <p:nvSpPr>
          <p:cNvPr id="20" name="Shape 15"/>
          <p:cNvSpPr/>
          <p:nvPr/>
        </p:nvSpPr>
        <p:spPr>
          <a:xfrm>
            <a:off x="8112557" y="2926080"/>
            <a:ext cx="321869" cy="36576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1" name="Text 16"/>
          <p:cNvSpPr/>
          <p:nvPr/>
        </p:nvSpPr>
        <p:spPr>
          <a:xfrm>
            <a:off x="548640" y="2926080"/>
            <a:ext cx="7563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4864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&amp; Produkte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2194560" y="3657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48640" y="3931920"/>
            <a:ext cx="2468880" cy="73152"/>
          </a:xfrm>
          <a:prstGeom prst="rect">
            <a:avLst/>
          </a:prstGeom>
          <a:solidFill>
            <a:srgbClr val="1E2D3F"/>
          </a:solidFill>
          <a:ln/>
        </p:spPr>
      </p:sp>
      <p:sp>
        <p:nvSpPr>
          <p:cNvPr id="25" name="Shape 20"/>
          <p:cNvSpPr/>
          <p:nvPr/>
        </p:nvSpPr>
        <p:spPr>
          <a:xfrm>
            <a:off x="548640" y="3931920"/>
            <a:ext cx="2468880" cy="73152"/>
          </a:xfrm>
          <a:prstGeom prst="rect">
            <a:avLst/>
          </a:prstGeom>
          <a:solidFill>
            <a:srgbClr val="10AC84"/>
          </a:solidFill>
          <a:ln/>
        </p:spPr>
      </p:sp>
      <p:sp>
        <p:nvSpPr>
          <p:cNvPr id="26" name="Text 21"/>
          <p:cNvSpPr/>
          <p:nvPr/>
        </p:nvSpPr>
        <p:spPr>
          <a:xfrm>
            <a:off x="338328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Marktplätze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029200" y="3657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3383280" y="3931920"/>
            <a:ext cx="2468880" cy="73152"/>
          </a:xfrm>
          <a:prstGeom prst="rect">
            <a:avLst/>
          </a:prstGeom>
          <a:solidFill>
            <a:srgbClr val="1E2D3F"/>
          </a:solidFill>
          <a:ln/>
        </p:spPr>
      </p:sp>
      <p:sp>
        <p:nvSpPr>
          <p:cNvPr id="29" name="Shape 24"/>
          <p:cNvSpPr/>
          <p:nvPr/>
        </p:nvSpPr>
        <p:spPr>
          <a:xfrm>
            <a:off x="3383280" y="3931920"/>
            <a:ext cx="2468880" cy="73152"/>
          </a:xfrm>
          <a:prstGeom prst="rect">
            <a:avLst/>
          </a:prstGeom>
          <a:solidFill>
            <a:srgbClr val="10AC84"/>
          </a:solidFill>
          <a:ln/>
        </p:spPr>
      </p:sp>
      <p:sp>
        <p:nvSpPr>
          <p:cNvPr id="30" name="Text 25"/>
          <p:cNvSpPr/>
          <p:nvPr/>
        </p:nvSpPr>
        <p:spPr>
          <a:xfrm>
            <a:off x="621792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Bestellungen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7863840" y="3657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217920" y="3931920"/>
            <a:ext cx="2468880" cy="73152"/>
          </a:xfrm>
          <a:prstGeom prst="rect">
            <a:avLst/>
          </a:prstGeom>
          <a:solidFill>
            <a:srgbClr val="1E2D3F"/>
          </a:solidFill>
          <a:ln/>
        </p:spPr>
      </p:sp>
      <p:sp>
        <p:nvSpPr>
          <p:cNvPr id="33" name="Shape 28"/>
          <p:cNvSpPr/>
          <p:nvPr/>
        </p:nvSpPr>
        <p:spPr>
          <a:xfrm>
            <a:off x="6217920" y="3931920"/>
            <a:ext cx="2468880" cy="73152"/>
          </a:xfrm>
          <a:prstGeom prst="rect">
            <a:avLst/>
          </a:prstGeom>
          <a:solidFill>
            <a:srgbClr val="10AC84"/>
          </a:solidFill>
          <a:ln/>
        </p:spPr>
      </p:sp>
      <p:sp>
        <p:nvSpPr>
          <p:cNvPr id="34" name="Text 29"/>
          <p:cNvSpPr/>
          <p:nvPr/>
        </p:nvSpPr>
        <p:spPr>
          <a:xfrm>
            <a:off x="548640" y="4343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Versand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2194560" y="4343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548640" y="4617720"/>
            <a:ext cx="2468880" cy="73152"/>
          </a:xfrm>
          <a:prstGeom prst="rect">
            <a:avLst/>
          </a:prstGeom>
          <a:solidFill>
            <a:srgbClr val="1E2D3F"/>
          </a:solidFill>
          <a:ln/>
        </p:spPr>
      </p:sp>
      <p:sp>
        <p:nvSpPr>
          <p:cNvPr id="37" name="Shape 32"/>
          <p:cNvSpPr/>
          <p:nvPr/>
        </p:nvSpPr>
        <p:spPr>
          <a:xfrm>
            <a:off x="548640" y="4617720"/>
            <a:ext cx="2468880" cy="73152"/>
          </a:xfrm>
          <a:prstGeom prst="rect">
            <a:avLst/>
          </a:prstGeom>
          <a:solidFill>
            <a:srgbClr val="10AC84"/>
          </a:solidFill>
          <a:ln/>
        </p:spPr>
      </p:sp>
      <p:sp>
        <p:nvSpPr>
          <p:cNvPr id="38" name="Text 33"/>
          <p:cNvSpPr/>
          <p:nvPr/>
        </p:nvSpPr>
        <p:spPr>
          <a:xfrm>
            <a:off x="3383280" y="4343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Retouren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5029200" y="4343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3383280" y="4617720"/>
            <a:ext cx="2468880" cy="73152"/>
          </a:xfrm>
          <a:prstGeom prst="rect">
            <a:avLst/>
          </a:prstGeom>
          <a:solidFill>
            <a:srgbClr val="1E2D3F"/>
          </a:solidFill>
          <a:ln/>
        </p:spPr>
      </p:sp>
      <p:sp>
        <p:nvSpPr>
          <p:cNvPr id="41" name="Shape 36"/>
          <p:cNvSpPr/>
          <p:nvPr/>
        </p:nvSpPr>
        <p:spPr>
          <a:xfrm>
            <a:off x="3383280" y="4617720"/>
            <a:ext cx="1975104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2" name="Text 37"/>
          <p:cNvSpPr/>
          <p:nvPr/>
        </p:nvSpPr>
        <p:spPr>
          <a:xfrm>
            <a:off x="6217920" y="4343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7863840" y="4343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6217920" y="4617720"/>
            <a:ext cx="2468880" cy="73152"/>
          </a:xfrm>
          <a:prstGeom prst="rect">
            <a:avLst/>
          </a:prstGeom>
          <a:solidFill>
            <a:srgbClr val="1E2D3F"/>
          </a:solidFill>
          <a:ln/>
        </p:spPr>
      </p:sp>
      <p:sp>
        <p:nvSpPr>
          <p:cNvPr id="45" name="Shape 40"/>
          <p:cNvSpPr/>
          <p:nvPr/>
        </p:nvSpPr>
        <p:spPr>
          <a:xfrm>
            <a:off x="6217920" y="4617720"/>
            <a:ext cx="1975104" cy="73152"/>
          </a:xfrm>
          <a:prstGeom prst="rect">
            <a:avLst/>
          </a:prstGeom>
          <a:solidFill>
            <a:srgbClr val="F9A825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bereits live ist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10AC8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051560"/>
          </a:xfrm>
          <a:prstGeom prst="rect">
            <a:avLst/>
          </a:prstGeom>
          <a:solidFill>
            <a:srgbClr val="2E86D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KI-Engine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645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Produkterkennung, Datenverbesserung, Bildgenerierung, Chat-Assistent, LLM-Regelwerk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88720"/>
            <a:ext cx="54864" cy="1051560"/>
          </a:xfrm>
          <a:prstGeom prst="rect">
            <a:avLst/>
          </a:prstGeom>
          <a:solidFill>
            <a:srgbClr val="10AC8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2588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Produktkatalog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1645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Katalog, Kategorien, Barcode-Scanner, Bulk-Import/Export (CSV), Deduplizierung, Preisvergleich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246888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468880"/>
            <a:ext cx="54864" cy="1051560"/>
          </a:xfrm>
          <a:prstGeom prst="rect">
            <a:avLst/>
          </a:prstGeom>
          <a:solidFill>
            <a:srgbClr val="00D2D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0604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Marktplatz-Integrationen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31520" y="2926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eBay, Kaufland, BaseLinker, Preis-Push, Bestandsabgleich, Self-Service-Setup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246888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468880"/>
            <a:ext cx="54864" cy="1051560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60604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5780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Management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937760" y="2926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Bestell-Intake (nativ), Status-Pipeline, Rechnungs-PDF, Lieferscheine, Auftragsnummern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374904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48640" y="3749040"/>
            <a:ext cx="54864" cy="1051560"/>
          </a:xfrm>
          <a:prstGeom prst="rect">
            <a:avLst/>
          </a:prstGeom>
          <a:solidFill>
            <a:srgbClr val="EE5A5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8620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Versand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31520" y="4206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SendCloud-Labels, Multi-Carrier-Regeln, Tracking, Bulk-Labels, Label-Stornierung, Auto-Sync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54880" y="374904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54880" y="3749040"/>
            <a:ext cx="54864" cy="1051560"/>
          </a:xfrm>
          <a:prstGeom prst="rect">
            <a:avLst/>
          </a:prstGeom>
          <a:solidFill>
            <a:srgbClr val="57657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88620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5780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Lager &amp; Admin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4937760" y="4206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Lagerverwaltung, Pick &amp; Pack, Forecast &amp; Reorder-Alerts, Audit-Log, Dark Mode, Webhooks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Aktuell in Arbeit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März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1234440"/>
          </a:xfrm>
          <a:prstGeom prst="rect">
            <a:avLst/>
          </a:prstGeom>
          <a:solidFill>
            <a:srgbClr val="1E2D3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54864" cy="123444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eBay OAuth Integration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Self-Service-Anbindung des eBay-Verkäuferkontos über den Integrations-Hub. Secrets konfiguriert, Callback-Fix deployed — bereit zum Testen.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1645920"/>
            <a:ext cx="1554480" cy="32004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ausstehend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8046720" cy="1234440"/>
          </a:xfrm>
          <a:prstGeom prst="rect">
            <a:avLst/>
          </a:prstGeom>
          <a:solidFill>
            <a:srgbClr val="1E2D3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017520"/>
            <a:ext cx="54864" cy="123444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Retouren-Sync verifizieren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Retouren-Engine für eBay und Kaufland ist vollständig implementiert (inkl. Auto-Sync alle 4h). Muss auf Production verifiziert werden.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3200400"/>
            <a:ext cx="1554480" cy="32004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Production-Test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A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Gerade abgeschlossen: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480560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22960" y="4462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SendCloud Auto-Sync Runner (2h-Intervall)</a:t>
            </a:r>
            <a:endParaRPr lang="en-US" sz="11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54880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47365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Versandlabel-Gewicht-Bug behoben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480560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46320" y="4462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Adressen-Mapping BaseLinker-Bestellungen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754880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846320" y="47365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Marketplace-Listings mit Bestandsabgleich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Nächste Schritte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280160"/>
            <a:ext cx="36576" cy="3383280"/>
          </a:xfrm>
          <a:prstGeom prst="rect">
            <a:avLst/>
          </a:prstGeom>
          <a:solidFill>
            <a:srgbClr val="DFE6E9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371600"/>
            <a:ext cx="292608" cy="292608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325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 11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1280160"/>
            <a:ext cx="6217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377440" y="1280160"/>
            <a:ext cx="54864" cy="6858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3258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Production-Verifikation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16002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OAuth testen, Retouren-Sync verifizieren, SendCloud-Sync prüfen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2240280"/>
            <a:ext cx="292608" cy="29260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 12–13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77440" y="2148840"/>
            <a:ext cx="6217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77440" y="2148840"/>
            <a:ext cx="54864" cy="68580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21945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Stabilisierung &amp; Monitoring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06040" y="24688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Error-Tracking, Performance-Monitoring, Logging-Auswertung, Edge-Cases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0120" y="3108960"/>
            <a:ext cx="292608" cy="292608"/>
          </a:xfrm>
          <a:prstGeom prst="ellipse">
            <a:avLst/>
          </a:prstGeom>
          <a:solidFill>
            <a:srgbClr val="00D2D3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3063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 14–16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77440" y="3017520"/>
            <a:ext cx="6217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77440" y="3017520"/>
            <a:ext cx="54864" cy="685800"/>
          </a:xfrm>
          <a:prstGeom prst="rect">
            <a:avLst/>
          </a:prstGeom>
          <a:solidFill>
            <a:srgbClr val="00D2D3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3063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Multi-Tenancy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06040" y="33375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Tenant-Isolation, User-Management, Onboarding-Wizard, Abo-Modell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0120" y="3977640"/>
            <a:ext cx="292608" cy="292608"/>
          </a:xfrm>
          <a:prstGeom prst="ellipse">
            <a:avLst/>
          </a:prstGeom>
          <a:solidFill>
            <a:srgbClr val="10AC84"/>
          </a:solidFill>
          <a:ln/>
        </p:spPr>
      </p:sp>
      <p:sp>
        <p:nvSpPr>
          <p:cNvPr id="24" name="Text 22"/>
          <p:cNvSpPr/>
          <p:nvPr/>
        </p:nvSpPr>
        <p:spPr>
          <a:xfrm>
            <a:off x="1417320" y="3931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A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377440" y="3886200"/>
            <a:ext cx="6217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77440" y="3886200"/>
            <a:ext cx="54864" cy="685800"/>
          </a:xfrm>
          <a:prstGeom prst="rect">
            <a:avLst/>
          </a:prstGeom>
          <a:solidFill>
            <a:srgbClr val="10AC84"/>
          </a:solidFill>
          <a:ln/>
        </p:spPr>
      </p:sp>
      <p:sp>
        <p:nvSpPr>
          <p:cNvPr id="27" name="Text 25"/>
          <p:cNvSpPr/>
          <p:nvPr/>
        </p:nvSpPr>
        <p:spPr>
          <a:xfrm>
            <a:off x="2606040" y="39319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606040" y="42062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Beta-Kunden, Landing-Page, Dokumentation, Support-Prozesse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AvyCloud?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solidFill>
            <a:srgbClr val="1E2D3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371600"/>
            <a:ext cx="640080" cy="64008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087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280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KI-First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91640" y="16459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Einzige Plattform mit integrierter KI-Produkterkennung. Foto hochladen, Produkt wird automatisch identifiziert, Daten angereichert und gelistet.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8046720" cy="1005840"/>
          </a:xfrm>
          <a:prstGeom prst="rect">
            <a:avLst/>
          </a:prstGeom>
          <a:solidFill>
            <a:srgbClr val="1E2D3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606040"/>
            <a:ext cx="640080" cy="64008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7432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All-in-One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691640" y="28803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Produktkatalog, Marktplätze, Bestellungen, Versand, Retouren, Rechnungen — kein Tool-Chaos, eine Plattform.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657600"/>
            <a:ext cx="8046720" cy="1005840"/>
          </a:xfrm>
          <a:prstGeom prst="rect">
            <a:avLst/>
          </a:prstGeom>
          <a:solidFill>
            <a:srgbClr val="1E2D3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3840480"/>
            <a:ext cx="640080" cy="64008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776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Intelligente Automatisierung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691640" y="41148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Auto-Repricing, Bestandsabgleich, Reorder-Alerts, Versand-Sync — weniger manuelle Arbeit, mehr Umsatz.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7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ChannelEngine, Channable, Linnworks, Plentymarkets, Billbee — keiner hat KI-Produkterkennung.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AvyCloud Product Roadmap</dc:title>
  <dc:subject>PptxGenJS Presentation</dc:subject>
  <dc:creator>AvyCloud</dc:creator>
  <cp:lastModifiedBy>AvyCloud</cp:lastModifiedBy>
  <cp:revision>1</cp:revision>
  <dcterms:created xsi:type="dcterms:W3CDTF">2026-03-10T01:04:17Z</dcterms:created>
  <dcterms:modified xsi:type="dcterms:W3CDTF">2026-03-10T01:04:17Z</dcterms:modified>
</cp:coreProperties>
</file>